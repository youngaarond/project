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8" r:id="rId4"/>
  </p:sldIdLst>
  <p:sldSz cx="12192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22" autoAdjust="0"/>
    <p:restoredTop sz="94660"/>
  </p:normalViewPr>
  <p:slideViewPr>
    <p:cSldViewPr snapToGrid="0" showGuides="1">
      <p:cViewPr varScale="1">
        <p:scale>
          <a:sx n="90" d="100"/>
          <a:sy n="90" d="100"/>
        </p:scale>
        <p:origin x="90" y="234"/>
      </p:cViewPr>
      <p:guideLst>
        <p:guide orient="horz" pos="2162"/>
        <p:guide pos="38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5" d="100"/>
          <a:sy n="75" d="100"/>
        </p:scale>
        <p:origin x="145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4EC56-8E46-498C-9F82-A1E67B00170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E617E-3889-48F8-A988-C1F6B731C0C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/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/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/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/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/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365126"/>
            <a:ext cx="10515600" cy="970222"/>
          </a:xfrm>
        </p:spPr>
        <p:txBody>
          <a:bodyPr/>
          <a:lstStyle>
            <a:lvl1pPr algn="l">
              <a:defRPr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1259724" y="1567346"/>
            <a:ext cx="4701840" cy="71009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内容占位符 3"/>
          <p:cNvSpPr/>
          <p:nvPr>
            <p:ph sz="half" idx="2"/>
          </p:nvPr>
        </p:nvSpPr>
        <p:spPr>
          <a:xfrm>
            <a:off x="1259724" y="2338388"/>
            <a:ext cx="4701840" cy="378596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/>
          <p:nvPr>
            <p:ph type="body" sz="quarter" idx="3"/>
          </p:nvPr>
        </p:nvSpPr>
        <p:spPr>
          <a:xfrm>
            <a:off x="6289616" y="1567346"/>
            <a:ext cx="4701841" cy="710095"/>
          </a:xfrm>
        </p:spPr>
        <p:txBody>
          <a:bodyPr vert="horz" lIns="91440" tIns="45720" rIns="91440" bIns="45720" rtlCol="0" anchor="ctr" anchorCtr="0">
            <a:normAutofit/>
          </a:bodyPr>
          <a:lstStyle>
            <a:lvl1pPr marL="228600" indent="-228600">
              <a:buNone/>
              <a:defRPr lang="zh-CN" altLang="en-US" b="0" smtClean="0"/>
            </a:lvl1pPr>
          </a:lstStyle>
          <a:p>
            <a:pPr marL="0" lvl="0" indent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/>
          <p:nvPr>
            <p:ph sz="quarter" idx="4"/>
          </p:nvPr>
        </p:nvSpPr>
        <p:spPr>
          <a:xfrm>
            <a:off x="6289616" y="2357460"/>
            <a:ext cx="4701841" cy="3766892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/>
          <p:nvPr>
            <p:ph type="dt" sz="half" idx="10"/>
          </p:nvPr>
        </p:nvSpPr>
        <p:spPr/>
        <p:txBody>
          <a:bodyPr/>
          <a:lstStyle/>
          <a:p>
            <a:fld id="{0D4851DC-CD24-4E20-AC43-84D4817493C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/>
          <p:nvPr>
            <p:ph type="sldNum" sz="quarter" idx="12"/>
          </p:nvPr>
        </p:nvSpPr>
        <p:spPr/>
        <p:txBody>
          <a:bodyPr/>
          <a:lstStyle/>
          <a:p>
            <a:fld id="{75F1D1A5-9DB9-47CE-AB47-B90B00FE3C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/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/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/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/>
          <p:nvPr>
            <p:ph type="dt" sz="half" idx="10"/>
          </p:nvPr>
        </p:nvSpPr>
        <p:spPr/>
        <p:txBody>
          <a:bodyPr/>
          <a:lstStyle/>
          <a:p>
            <a:fld id="{EB018836-6699-441E-9BAB-C61FC75AFD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/>
          <p:nvPr>
            <p:ph type="sldNum" sz="quarter" idx="12"/>
          </p:nvPr>
        </p:nvSpPr>
        <p:spPr/>
        <p:txBody>
          <a:bodyPr/>
          <a:lstStyle/>
          <a:p>
            <a:fld id="{3040BF0B-87F8-415C-BAC5-F65F41346B0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/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/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/>
          <p:nvPr>
            <p:ph type="dt" sz="half" idx="10"/>
          </p:nvPr>
        </p:nvSpPr>
        <p:spPr/>
        <p:txBody>
          <a:bodyPr/>
          <a:lstStyle/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12"/>
          </p:nvPr>
        </p:nvSpPr>
        <p:spPr/>
        <p:txBody>
          <a:bodyPr/>
          <a:lstStyle/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/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06F6D-FB2C-4A93-B18F-24E90D5C3B6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/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/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686B1-6509-4CC6-A0C8-F609EF2537B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/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 smtClean="0"/>
              <a:t>请在此处添加标题</a:t>
            </a:r>
            <a:endParaRPr lang="zh-CN" altLang="en-US" dirty="0"/>
          </a:p>
        </p:txBody>
      </p:sp>
      <p:sp>
        <p:nvSpPr>
          <p:cNvPr id="5" name="副标题 4"/>
          <p:cNvSpPr/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zh-CN" altLang="en-US" smtClean="0"/>
              <a:t>请在此处添加副标题</a:t>
            </a:r>
            <a:endParaRPr lang="zh-CN" alt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6350" y="0"/>
            <a:ext cx="12192000" cy="6863715"/>
          </a:xfrm>
          <a:prstGeom prst="rect">
            <a:avLst/>
          </a:prstGeom>
          <a:solidFill>
            <a:srgbClr val="EDD8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635" y="129540"/>
            <a:ext cx="12343765" cy="6207125"/>
            <a:chOff x="-152400" y="173967"/>
            <a:chExt cx="12496800" cy="6539490"/>
          </a:xfrm>
        </p:grpSpPr>
        <p:pic>
          <p:nvPicPr>
            <p:cNvPr id="5" name="图片 4" descr="448010-PFIB3C-155-15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152400" y="173967"/>
              <a:ext cx="12496800" cy="3860800"/>
            </a:xfrm>
            <a:prstGeom prst="rect">
              <a:avLst/>
            </a:prstGeom>
          </p:spPr>
        </p:pic>
        <p:pic>
          <p:nvPicPr>
            <p:cNvPr id="18" name="图片 17" descr="448010-PFIB3C-155-15"/>
            <p:cNvPicPr>
              <a:picLocks noChangeAspect="1"/>
            </p:cNvPicPr>
            <p:nvPr/>
          </p:nvPicPr>
          <p:blipFill>
            <a:blip r:embed="rId1"/>
            <a:srcRect/>
            <a:stretch>
              <a:fillRect/>
            </a:stretch>
          </p:blipFill>
          <p:spPr>
            <a:xfrm>
              <a:off x="-152400" y="2694999"/>
              <a:ext cx="12496800" cy="4018458"/>
            </a:xfrm>
            <a:prstGeom prst="rect">
              <a:avLst/>
            </a:prstGeom>
          </p:spPr>
        </p:pic>
      </p:grpSp>
      <p:sp>
        <p:nvSpPr>
          <p:cNvPr id="7" name="圆角矩形 9"/>
          <p:cNvSpPr/>
          <p:nvPr/>
        </p:nvSpPr>
        <p:spPr>
          <a:xfrm>
            <a:off x="4368800" y="1017070"/>
            <a:ext cx="3441700" cy="183080"/>
          </a:xfrm>
          <a:prstGeom prst="roundRect">
            <a:avLst>
              <a:gd name="adj" fmla="val 50000"/>
            </a:avLst>
          </a:prstGeom>
          <a:solidFill>
            <a:srgbClr val="EDD8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801620" y="543173"/>
            <a:ext cx="6576060" cy="98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3200" b="1" dirty="0">
                <a:solidFill>
                  <a:srgbClr val="894A10"/>
                </a:solidFill>
                <a:latin typeface="华康圆体W9(P)" charset="-122"/>
                <a:ea typeface="华康圆体W9(P)" charset="-122"/>
              </a:rPr>
              <a:t>全日制中心周课表</a:t>
            </a:r>
            <a:endParaRPr lang="en-US" altLang="zh-CN" sz="3200" b="1" dirty="0">
              <a:solidFill>
                <a:srgbClr val="894A10"/>
              </a:solidFill>
              <a:latin typeface="华康圆体W9(P)" charset="-122"/>
              <a:ea typeface="华康圆体W9(P)" charset="-122"/>
            </a:endParaRPr>
          </a:p>
          <a:p>
            <a:pPr algn="ctr">
              <a:lnSpc>
                <a:spcPct val="120000"/>
              </a:lnSpc>
            </a:pPr>
            <a:r>
              <a:rPr lang="en-US" b="1" dirty="0">
                <a:solidFill>
                  <a:srgbClr val="894A10"/>
                </a:solidFill>
                <a:latin typeface="华康圆体W9(P)" charset="-122"/>
                <a:ea typeface="华康圆体W9(P)" charset="-122"/>
                <a:sym typeface="+mn-ea"/>
              </a:rPr>
              <a:t>P</a:t>
            </a:r>
            <a:r>
              <a:rPr lang="en-US" altLang="zh-CN" b="1" dirty="0">
                <a:solidFill>
                  <a:srgbClr val="894A10"/>
                </a:solidFill>
                <a:latin typeface="华康圆体W9(P)" charset="-122"/>
                <a:ea typeface="华康圆体W9(P)" charset="-122"/>
                <a:sym typeface="+mn-ea"/>
              </a:rPr>
              <a:t>ony Running Daycare Weekly Lesson Plan</a:t>
            </a:r>
            <a:endParaRPr lang="en-US" altLang="en-US" sz="2000" b="1" dirty="0">
              <a:solidFill>
                <a:srgbClr val="894A10"/>
              </a:solidFill>
              <a:latin typeface="华康圆体W9(P)" charset="-122"/>
              <a:ea typeface="华康圆体W9(P)" charset="-122"/>
              <a:sym typeface="+mn-ea"/>
            </a:endParaRPr>
          </a:p>
        </p:txBody>
      </p:sp>
      <p:pic>
        <p:nvPicPr>
          <p:cNvPr id="10" name="图片 9" descr="448010-PFIB3C-155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202" y="-5713"/>
            <a:ext cx="835025" cy="719455"/>
          </a:xfrm>
          <a:prstGeom prst="rect">
            <a:avLst/>
          </a:prstGeom>
        </p:spPr>
      </p:pic>
      <p:pic>
        <p:nvPicPr>
          <p:cNvPr id="11" name="图片 10" descr="448010-PFIB3C-155-0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273792" y="161777"/>
            <a:ext cx="911860" cy="551815"/>
          </a:xfrm>
          <a:prstGeom prst="rect">
            <a:avLst/>
          </a:prstGeom>
        </p:spPr>
      </p:pic>
      <p:pic>
        <p:nvPicPr>
          <p:cNvPr id="12" name="图片 11" descr="448010-PFIB3C-155-0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180000">
            <a:off x="5137469" y="47298"/>
            <a:ext cx="911860" cy="551815"/>
          </a:xfrm>
          <a:prstGeom prst="rect">
            <a:avLst/>
          </a:prstGeom>
        </p:spPr>
      </p:pic>
      <p:pic>
        <p:nvPicPr>
          <p:cNvPr id="14" name="图片 13" descr="448010-PFIB3C-155-0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603" y="53649"/>
            <a:ext cx="1832952" cy="1154406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8990331" y="1372258"/>
            <a:ext cx="2980055" cy="598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100" b="1" dirty="0">
                <a:solidFill>
                  <a:srgbClr val="8F5825"/>
                </a:solidFill>
                <a:latin typeface="等线" pitchFamily="2" charset="-122"/>
                <a:ea typeface="等线" pitchFamily="2" charset="-122"/>
                <a:sym typeface="+mn-ea"/>
              </a:rPr>
              <a:t>From2026.4.13—2026.4.17</a:t>
            </a:r>
            <a:endParaRPr lang="zh-CN" altLang="en-US" sz="1100" b="1" dirty="0">
              <a:solidFill>
                <a:srgbClr val="8F5825"/>
              </a:solidFill>
              <a:latin typeface="等线" pitchFamily="2" charset="-122"/>
              <a:ea typeface="等线" pitchFamily="2" charset="-122"/>
            </a:endParaRPr>
          </a:p>
          <a:p>
            <a:pPr algn="r"/>
            <a:endParaRPr lang="zh-CN" altLang="en-US" sz="1100" b="1" dirty="0">
              <a:solidFill>
                <a:srgbClr val="8F5825"/>
              </a:solidFill>
              <a:latin typeface="等线" pitchFamily="2" charset="-122"/>
              <a:ea typeface="等线" pitchFamily="2" charset="-122"/>
            </a:endParaRPr>
          </a:p>
          <a:p>
            <a:pPr algn="r"/>
            <a:endParaRPr lang="zh-CN" altLang="en-US" sz="1100" b="1" dirty="0">
              <a:solidFill>
                <a:srgbClr val="8F5825"/>
              </a:solidFill>
              <a:latin typeface="等线" pitchFamily="2" charset="-122"/>
              <a:ea typeface="等线" pitchFamily="2" charset="-122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84480" y="1621790"/>
          <a:ext cx="11776075" cy="4688205"/>
        </p:xfrm>
        <a:graphic>
          <a:graphicData uri="http://schemas.openxmlformats.org/drawingml/2006/table">
            <a:tbl>
              <a:tblPr/>
              <a:tblGrid>
                <a:gridCol w="2134870"/>
                <a:gridCol w="1934845"/>
                <a:gridCol w="2806065"/>
                <a:gridCol w="3300095"/>
                <a:gridCol w="1600200"/>
              </a:tblGrid>
              <a:tr h="1860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MON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TUE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WED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THUR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 dirty="0">
                          <a:solidFill>
                            <a:schemeClr val="bg1"/>
                          </a:solidFill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FRI</a:t>
                      </a:r>
                      <a:endParaRPr lang="en-US" sz="1050" b="1" dirty="0">
                        <a:solidFill>
                          <a:schemeClr val="bg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48260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ILA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050" b="1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altLang="zh-CN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ILA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endParaRPr lang="en-US" altLang="zh-CN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English Reading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English Reading</a:t>
                      </a:r>
                      <a:endParaRPr lang="en-US" altLang="zh-CN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10">
                  <a:txBody>
                    <a:bodyPr/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lvl="0" algn="ctr" fontAlgn="t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春游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47628" marR="2646" marT="2646" marB="0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482600">
                <a:tc>
                  <a:txBody>
                    <a:bodyPr/>
                    <a:p>
                      <a:pPr algn="ctr" fontAlgn="ctr"/>
                      <a:endParaRPr lang="en-US" altLang="zh-CN" sz="1050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boy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girl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teacher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student</a:t>
                      </a:r>
                      <a:endParaRPr lang="en-US" altLang="zh-CN" sz="105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endParaRPr lang="en-US" altLang="zh-CN" sz="105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name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picture</a:t>
                      </a:r>
                      <a:endParaRPr lang="en-US" altLang="zh-CN" sz="1050" dirty="0">
                        <a:effectLst/>
                        <a:latin typeface="微软雅黑" charset="-122"/>
                        <a:ea typeface="微软雅黑" charset="-122"/>
                        <a:sym typeface="Arial" panose="020B0604020202090204" pitchFamily="34" charset="0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Pete the cat</a:t>
                      </a:r>
                      <a:endParaRPr lang="en-US" altLang="zh-CN" sz="1050" i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47628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Pete the cat</a:t>
                      </a:r>
                      <a:endParaRPr lang="en-US" altLang="zh-CN" sz="1050" i="1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2CC"/>
                    </a:solidFill>
                  </a:tcPr>
                </a:tc>
                <a:tc vMerge="1">
                  <a:tcPr marL="47628" marR="2646" marT="2646" marB="0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</a:t>
                      </a:r>
                      <a:r>
                        <a:rPr lang="zh-CN" altLang="en-US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户外</a:t>
                      </a:r>
                      <a:endParaRPr lang="zh-CN" altLang="en-US" sz="1050" b="1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</a:t>
                      </a:r>
                      <a:r>
                        <a:rPr lang="zh-CN" altLang="en-US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户外</a:t>
                      </a:r>
                      <a:endParaRPr lang="zh-CN" altLang="en-US" sz="1050" b="1" i="0" u="none" strike="noStrike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户外</a:t>
                      </a:r>
                      <a:endParaRPr lang="zh-CN" altLang="en-US" sz="1050" b="1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</a:t>
                      </a:r>
                      <a:r>
                        <a:rPr lang="zh-CN" altLang="en-US" sz="1050" b="1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户外</a:t>
                      </a:r>
                      <a:endParaRPr lang="zh-CN" altLang="en-US" sz="1050" b="1" i="0" u="none" strike="noStrike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47628" marR="2646" marT="2646" marB="0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21310">
                <a:tc gridSpan="4">
                  <a:txBody>
                    <a:bodyPr/>
                    <a:p>
                      <a:pPr algn="ctr" fontAlgn="ctr"/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Function </a:t>
                      </a:r>
                      <a:r>
                        <a:rPr lang="en-US" altLang="zh-CN" sz="1050" b="1" dirty="0">
                          <a:solidFill>
                            <a:schemeClr val="tx1"/>
                          </a:solidFill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Room</a:t>
                      </a:r>
                      <a:endParaRPr lang="en-US" altLang="zh-CN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Arial" panose="020B0604020202090204" pitchFamily="34" charset="0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16865">
                <a:tc>
                  <a:txBody>
                    <a:bodyPr/>
                    <a:p>
                      <a:pPr algn="ctr" fontAlgn="ctr"/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搭建区角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阅读</a:t>
                      </a:r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区角</a:t>
                      </a:r>
                      <a:endParaRPr lang="zh-CN" altLang="en-US" sz="105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50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娃娃家区角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磁力片区角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1775">
                <a:tc gridSpan="4"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Pony Class</a:t>
                      </a:r>
                      <a:endParaRPr lang="zh-CN" alt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6415">
                <a:tc>
                  <a:txBody>
                    <a:bodyPr/>
                    <a:p>
                      <a:pPr algn="ctr" fontAlgn="ctr"/>
                      <a:r>
                        <a:rPr lang="zh-CN" alt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　</a:t>
                      </a:r>
                      <a:r>
                        <a:rPr lang="en-US" altLang="zh-CN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Sight Words: </a:t>
                      </a:r>
                      <a:r>
                        <a:rPr lang="en-US" altLang="zh-CN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 happy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sad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silly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excited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mad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surprised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afraid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worried</a:t>
                      </a:r>
                      <a:endParaRPr lang="en-US" altLang="zh-CN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Pony Cards</a:t>
                      </a:r>
                      <a:endParaRPr lang="en-US" altLang="zh-CN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9525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    Finger Play </a:t>
                      </a:r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Song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: 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algn="ctr" fontAlgn="ctr"/>
                      <a:r>
                        <a:rPr 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The wheel on the bus</a:t>
                      </a:r>
                      <a:endParaRPr lang="en-US" sz="1050" b="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47628" marR="2646" marT="2646" marB="0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  Focus Set Song: 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opposite song</a:t>
                      </a:r>
                      <a:endParaRPr lang="en-US" altLang="zh-CN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endParaRPr lang="en-US" altLang="zh-CN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47628" marR="2646" marT="2646" marB="0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449580">
                <a:tc>
                  <a:txBody>
                    <a:bodyPr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Action Song: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  <a:p>
                      <a:pPr algn="ctr" fontAlgn="ctr"/>
                      <a:r>
                        <a:rPr lang="en-US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Hickory Dickory Dock </a:t>
                      </a:r>
                      <a:r>
                        <a:rPr lang="en-US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      </a:t>
                      </a:r>
                      <a:r>
                        <a:rPr lang="en-US" sz="1050" b="0" i="1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     </a:t>
                      </a:r>
                      <a:endParaRPr lang="zh-CN" altLang="en-US" sz="1050" b="0" i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None/>
                      </a:pPr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Focus Letter: </a:t>
                      </a:r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M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Number Song: </a:t>
                      </a:r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 </a:t>
                      </a:r>
                      <a:endParaRPr lang="en-US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altLang="zh-CN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1.2</a:t>
                      </a:r>
                      <a:r>
                        <a:rPr lang="zh-CN" altLang="en-US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，</a:t>
                      </a:r>
                      <a:r>
                        <a:rPr lang="en-US" altLang="zh-CN" sz="1050" i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I Love You</a:t>
                      </a:r>
                      <a:endParaRPr lang="en-US" altLang="zh-CN" sz="1050" i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50" b="1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Memory Games</a:t>
                      </a:r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:</a:t>
                      </a:r>
                      <a:b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</a:br>
                      <a:r>
                        <a:rPr lang="en-US" sz="105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 Puzzle</a:t>
                      </a:r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2620">
                <a:tc>
                  <a:txBody>
                    <a:bodyPr/>
                    <a:p>
                      <a:pPr algn="ctr" fontAlgn="ctr"/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Visual Game</a:t>
                      </a:r>
                      <a:endParaRPr lang="zh-CN" altLang="en-US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shadow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：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mountain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；</a:t>
                      </a:r>
                      <a:endParaRPr lang="en-US" altLang="zh-CN" sz="105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sorting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：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dark&amp;bright colors</a:t>
                      </a:r>
                      <a:endParaRPr lang="zh-CN" altLang="en-US" sz="105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Language Games</a:t>
                      </a:r>
                      <a:endParaRPr lang="en-US" altLang="zh-CN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flower pot spelling</a:t>
                      </a: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；</a:t>
                      </a:r>
                      <a:endParaRPr lang="en-US" altLang="zh-CN" sz="1050" b="0" dirty="0">
                        <a:solidFill>
                          <a:schemeClr val="tx1"/>
                        </a:solidFill>
                        <a:latin typeface="微软雅黑" charset="-122"/>
                        <a:ea typeface="微软雅黑" charset="-122"/>
                        <a:sym typeface="Arial" panose="020B0604020202090204" pitchFamily="34" charset="0"/>
                      </a:endParaRPr>
                    </a:p>
                    <a:p>
                      <a:pPr algn="ctr" fontAlgn="ctr"/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poetry reading</a:t>
                      </a:r>
                      <a:r>
                        <a:rPr lang="zh-CN" altLang="en-US" sz="1050" dirty="0"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：</a:t>
                      </a:r>
                      <a:r>
                        <a:rPr lang="en-US" altLang="zh-CN" sz="1050" dirty="0">
                          <a:latin typeface="微软雅黑" charset="-122"/>
                          <a:ea typeface="微软雅黑" charset="-122"/>
                          <a:sym typeface="Arial" panose="020B0604020202090204" pitchFamily="34" charset="0"/>
                        </a:rPr>
                        <a:t>beetles</a:t>
                      </a:r>
                      <a:endParaRPr lang="en-US" altLang="zh-CN" sz="1050" b="0" dirty="0">
                        <a:solidFill>
                          <a:schemeClr val="tx1"/>
                        </a:solidFill>
                        <a:latin typeface="微软雅黑" charset="-122"/>
                        <a:ea typeface="微软雅黑" charset="-122"/>
                        <a:sym typeface="Arial" panose="020B0604020202090204" pitchFamily="34" charset="0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Math Games</a:t>
                      </a:r>
                      <a:endParaRPr lang="en-US" sz="1050" b="1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multiples of three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：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gymlink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；</a:t>
                      </a:r>
                      <a:endParaRPr lang="en-US" altLang="zh-CN" sz="1050" b="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dough number</a:t>
                      </a:r>
                      <a:endParaRPr lang="en-US" altLang="zh-CN" sz="1050" b="0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zh-CN" altLang="en-US" sz="1050" b="1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sz="1050" b="1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Speech and Drama</a:t>
                      </a:r>
                      <a:endParaRPr lang="en-US" altLang="zh-CN" sz="1050" b="1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r>
                        <a:rPr 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role play</a:t>
                      </a:r>
                      <a:r>
                        <a:rPr lang="zh-CN" altLang="en-US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：</a:t>
                      </a:r>
                      <a:r>
                        <a:rPr lang="en-US" altLang="zh-CN" sz="105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model</a:t>
                      </a:r>
                      <a:endParaRPr lang="en-US" altLang="zh-CN" sz="1050" i="1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  <a:p>
                      <a:pPr algn="ctr" fontAlgn="ctr"/>
                      <a:endParaRPr lang="en-US" sz="1050" b="0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3055">
                <a:tc gridSpan="4">
                  <a:txBody>
                    <a:bodyPr/>
                    <a:p>
                      <a:pPr algn="ctr" fontAlgn="ctr"/>
                      <a:r>
                        <a:rPr lang="en-US" sz="105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Gym Class</a:t>
                      </a:r>
                      <a:endParaRPr lang="en-US" sz="1050" b="1" i="0" u="none" strike="noStrike" dirty="0">
                        <a:solidFill>
                          <a:schemeClr val="tx1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47628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68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charset="-122"/>
                          <a:ea typeface="微软雅黑" charset="-122"/>
                        </a:rPr>
                        <a:t>本周生活教育</a:t>
                      </a:r>
                      <a:endParaRPr lang="zh-CN" altLang="en-US" sz="1050" b="1" i="0" u="none" strike="noStrike" dirty="0">
                        <a:solidFill>
                          <a:srgbClr val="000000"/>
                        </a:solidFill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7653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050" b="1" dirty="0">
                          <a:solidFill>
                            <a:srgbClr val="000000"/>
                          </a:solidFill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乐于助人：幼儿明白请客前做好准备是对待客人应有的礼貌行为</a:t>
                      </a:r>
                      <a:endParaRPr lang="zh-CN" altLang="en-US" sz="1050" b="1" dirty="0">
                        <a:solidFill>
                          <a:srgbClr val="000000"/>
                        </a:solidFill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2646" marR="2646" marT="2646" marB="0" anchor="ctr">
                    <a:lnL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8A54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TEMPLATE_CATEGORY" val="preset"/>
  <p:tag name="KSO_WM_TEMPLATE_INDEX" val="11"/>
  <p:tag name="KSO_WM_UNIT_TYPE" val="a"/>
  <p:tag name="KSO_WM_UNIT_INDEX" val="1"/>
  <p:tag name="KSO_WM_UNIT_ID" val="256*a*1"/>
  <p:tag name="KSO_WM_UNIT_CLEAR" val="1"/>
  <p:tag name="KSO_WM_UNIT_LAYERLEVEL" val="1"/>
  <p:tag name="KSO_WM_UNIT_VALUE" val="26"/>
  <p:tag name="KSO_WM_UNIT_ISCONTENTSTITLE" val="0"/>
  <p:tag name="KSO_WM_UNIT_HIGHLIGHT" val="0"/>
  <p:tag name="KSO_WM_UNIT_COMPATIBLE" val="0"/>
  <p:tag name="KSO_WM_UNIT_PRESET_TEXT" val="请在此处添加标题"/>
  <p:tag name="KSO_WM_BEAUTIFY_FLAG" val="#wm#"/>
  <p:tag name="KSO_WM_TAG_VERSION" val="1.0"/>
</p:tagLst>
</file>

<file path=ppt/tags/tag2.xml><?xml version="1.0" encoding="utf-8"?>
<p:tagLst xmlns:p="http://schemas.openxmlformats.org/presentationml/2006/main">
  <p:tag name="KSO_WM_TEMPLATE_CATEGORY" val="preset"/>
  <p:tag name="KSO_WM_TEMPLATE_INDEX" val="11"/>
  <p:tag name="KSO_WM_UNIT_TYPE" val="b"/>
  <p:tag name="KSO_WM_UNIT_INDEX" val="1"/>
  <p:tag name="KSO_WM_UNIT_ID" val="256*b*1"/>
  <p:tag name="KSO_WM_UNIT_CLEAR" val="1"/>
  <p:tag name="KSO_WM_UNIT_LAYERLEVEL" val="1"/>
  <p:tag name="KSO_WM_UNIT_VALUE" val="140"/>
  <p:tag name="KSO_WM_UNIT_ISCONTENTSTITLE" val="0"/>
  <p:tag name="KSO_WM_UNIT_HIGHLIGHT" val="0"/>
  <p:tag name="KSO_WM_UNIT_COMPATIBLE" val="0"/>
  <p:tag name="KSO_WM_UNIT_PRESET_TEXT" val="请在此处添加副标题"/>
  <p:tag name="KSO_WM_BEAUTIFY_FLAG" val="#wm#"/>
  <p:tag name="KSO_WM_TAG_VERSION" val="1.0"/>
</p:tagLst>
</file>

<file path=ppt/tags/tag3.xml><?xml version="1.0" encoding="utf-8"?>
<p:tagLst xmlns:p="http://schemas.openxmlformats.org/presentationml/2006/main">
  <p:tag name="KSO_WM_TEMPLATE_CATEGORY" val="preset"/>
  <p:tag name="KSO_WM_TEMPLATE_INDEX" val="11"/>
  <p:tag name="KSO_WM_TAG_VERSION" val="1.0"/>
  <p:tag name="KSO_WM_SLIDE_ID" val="256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</p:tagLst>
</file>

<file path=ppt/tags/tag4.xml><?xml version="1.0" encoding="utf-8"?>
<p:tagLst xmlns:p="http://schemas.openxmlformats.org/presentationml/2006/main">
  <p:tag name="KSO_WM_UNIT_PLACING_PICTURE_USER_VIEWPORT" val="{&quot;height&quot;:869,&quot;width&quot;:1436}"/>
</p:tagLst>
</file>

<file path=ppt/tags/tag5.xml><?xml version="1.0" encoding="utf-8"?>
<p:tagLst xmlns:p="http://schemas.openxmlformats.org/presentationml/2006/main">
  <p:tag name="KSO_WM_UNIT_TABLE_BEAUTIFY" val="smartTable{575ff584-dbbc-42d3-9934-77630df53807}"/>
  <p:tag name="TABLE_ENDDRAG_ORIGIN_RECT" val="927*375"/>
  <p:tag name="TABLE_ENDDRAG_RECT" val="22*130*927*375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WPS 演示</Application>
  <PresentationFormat>宽屏</PresentationFormat>
  <Paragraphs>256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21" baseType="lpstr">
      <vt:lpstr>Arial</vt:lpstr>
      <vt:lpstr>宋体</vt:lpstr>
      <vt:lpstr>Wingdings</vt:lpstr>
      <vt:lpstr>华康圆体W9(P)</vt:lpstr>
      <vt:lpstr>苹方-简</vt:lpstr>
      <vt:lpstr>等线</vt:lpstr>
      <vt:lpstr>微软雅黑</vt:lpstr>
      <vt:lpstr>汉仪书宋二KW</vt:lpstr>
      <vt:lpstr>Calibri Light</vt:lpstr>
      <vt:lpstr>Helvetica Neue</vt:lpstr>
      <vt:lpstr>Calibri</vt:lpstr>
      <vt:lpstr>汉仪旗黑</vt:lpstr>
      <vt:lpstr>宋体</vt:lpstr>
      <vt:lpstr>Arial Unicode MS</vt:lpstr>
      <vt:lpstr>汉仪中等线KW</vt:lpstr>
      <vt:lpstr>华康圆体W9(P)</vt:lpstr>
      <vt:lpstr>微软雅黑</vt:lpstr>
      <vt:lpstr>等线</vt:lpstr>
      <vt:lpstr>Office 主题</vt:lpstr>
      <vt:lpstr>请在此处添加标题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慣性</dc:creator>
  <cp:lastModifiedBy>诺言丶</cp:lastModifiedBy>
  <cp:revision>500</cp:revision>
  <dcterms:created xsi:type="dcterms:W3CDTF">2026-04-13T10:01:49Z</dcterms:created>
  <dcterms:modified xsi:type="dcterms:W3CDTF">2026-04-13T10:01:49Z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5D4AB6B96FBC475388AEDC697C8EF9B9_31</vt:lpwstr>
  </property>
</Properties>
</file>